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57" r:id="rId5"/>
    <p:sldId id="279" r:id="rId6"/>
    <p:sldId id="277" r:id="rId7"/>
    <p:sldId id="278" r:id="rId8"/>
  </p:sldIdLst>
  <p:sldSz cx="14630400" cy="8229600"/>
  <p:notesSz cx="8229600" cy="14630400"/>
  <p:embeddedFontLst>
    <p:embeddedFont>
      <p:font typeface="Barlow" panose="020B0604020202020204" charset="0"/>
      <p:regular r:id="rId10"/>
    </p:embeddedFont>
    <p:embeddedFont>
      <p:font typeface="Segoe UI" panose="020B0502040204020203" pitchFamily="34" charset="0"/>
      <p:regular r:id="rId11"/>
      <p:bold r:id="rId12"/>
      <p:italic r:id="rId13"/>
      <p:bold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BEA6"/>
    <a:srgbClr val="79D1C0"/>
    <a:srgbClr val="CC0099"/>
    <a:srgbClr val="A8D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48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in Mathem's" userId="9da0f2a21a54eae4" providerId="LiveId" clId="{C21F7293-61BB-48DC-AE0B-8F9F307214DA}"/>
    <pc:docChg chg="undo redo custSel addSld delSld modSld sldOrd">
      <pc:chgData name="Divin Mathem's" userId="9da0f2a21a54eae4" providerId="LiveId" clId="{C21F7293-61BB-48DC-AE0B-8F9F307214DA}" dt="2026-03-30T12:15:08.181" v="3188" actId="478"/>
      <pc:docMkLst>
        <pc:docMk/>
      </pc:docMkLst>
      <pc:sldChg chg="addSp delSp modSp mod ord">
        <pc:chgData name="Divin Mathem's" userId="9da0f2a21a54eae4" providerId="LiveId" clId="{C21F7293-61BB-48DC-AE0B-8F9F307214DA}" dt="2026-03-30T12:14:43.679" v="3187" actId="20577"/>
        <pc:sldMkLst>
          <pc:docMk/>
          <pc:sldMk cId="0" sldId="256"/>
        </pc:sldMkLst>
        <pc:spChg chg="mod topLvl">
          <ac:chgData name="Divin Mathem's" userId="9da0f2a21a54eae4" providerId="LiveId" clId="{C21F7293-61BB-48DC-AE0B-8F9F307214DA}" dt="2026-03-30T12:14:43.679" v="3187" actId="20577"/>
          <ac:spMkLst>
            <pc:docMk/>
            <pc:sldMk cId="0" sldId="256"/>
            <ac:spMk id="31" creationId="{0673F81E-AE51-73D9-EB18-9E64C1DDF4E2}"/>
          </ac:spMkLst>
        </pc:spChg>
        <pc:spChg chg="del topLvl">
          <ac:chgData name="Divin Mathem's" userId="9da0f2a21a54eae4" providerId="LiveId" clId="{C21F7293-61BB-48DC-AE0B-8F9F307214DA}" dt="2026-03-30T12:14:41.443" v="3186" actId="478"/>
          <ac:spMkLst>
            <pc:docMk/>
            <pc:sldMk cId="0" sldId="256"/>
            <ac:spMk id="32" creationId="{A0310B1B-174C-F9BB-5EC5-007D16D739EE}"/>
          </ac:spMkLst>
        </pc:spChg>
        <pc:spChg chg="mod topLvl">
          <ac:chgData name="Divin Mathem's" userId="9da0f2a21a54eae4" providerId="LiveId" clId="{C21F7293-61BB-48DC-AE0B-8F9F307214DA}" dt="2026-03-30T12:14:35.615" v="3185" actId="20577"/>
          <ac:spMkLst>
            <pc:docMk/>
            <pc:sldMk cId="0" sldId="256"/>
            <ac:spMk id="35" creationId="{0DDCE7F2-9305-B58F-15E8-E73A76AAC1AE}"/>
          </ac:spMkLst>
        </pc:spChg>
        <pc:spChg chg="del topLvl">
          <ac:chgData name="Divin Mathem's" userId="9da0f2a21a54eae4" providerId="LiveId" clId="{C21F7293-61BB-48DC-AE0B-8F9F307214DA}" dt="2026-03-30T12:14:33.163" v="3184" actId="478"/>
          <ac:spMkLst>
            <pc:docMk/>
            <pc:sldMk cId="0" sldId="256"/>
            <ac:spMk id="36" creationId="{F7235A96-440B-46E9-C999-2827F91F3F20}"/>
          </ac:spMkLst>
        </pc:spChg>
        <pc:grpChg chg="del">
          <ac:chgData name="Divin Mathem's" userId="9da0f2a21a54eae4" providerId="LiveId" clId="{C21F7293-61BB-48DC-AE0B-8F9F307214DA}" dt="2026-03-30T12:14:41.443" v="3186" actId="478"/>
          <ac:grpSpMkLst>
            <pc:docMk/>
            <pc:sldMk cId="0" sldId="256"/>
            <ac:grpSpMk id="33" creationId="{330A72F9-46A3-A4EC-5F17-295E52215087}"/>
          </ac:grpSpMkLst>
        </pc:grpChg>
        <pc:grpChg chg="del">
          <ac:chgData name="Divin Mathem's" userId="9da0f2a21a54eae4" providerId="LiveId" clId="{C21F7293-61BB-48DC-AE0B-8F9F307214DA}" dt="2026-03-30T12:14:33.163" v="3184" actId="478"/>
          <ac:grpSpMkLst>
            <pc:docMk/>
            <pc:sldMk cId="0" sldId="256"/>
            <ac:grpSpMk id="34" creationId="{468C6F29-EEF9-65A3-0CCF-F6E3EB33170C}"/>
          </ac:grpSpMkLst>
        </pc:grpChg>
        <pc:grpChg chg="del">
          <ac:chgData name="Divin Mathem's" userId="9da0f2a21a54eae4" providerId="LiveId" clId="{C21F7293-61BB-48DC-AE0B-8F9F307214DA}" dt="2026-03-30T12:14:22.075" v="3183" actId="478"/>
          <ac:grpSpMkLst>
            <pc:docMk/>
            <pc:sldMk cId="0" sldId="256"/>
            <ac:grpSpMk id="58" creationId="{034BFAD8-7022-145A-E9FF-C3F925A933DD}"/>
          </ac:grpSpMkLst>
        </pc:grpChg>
        <pc:grpChg chg="del">
          <ac:chgData name="Divin Mathem's" userId="9da0f2a21a54eae4" providerId="LiveId" clId="{C21F7293-61BB-48DC-AE0B-8F9F307214DA}" dt="2026-03-30T12:14:22.075" v="3183" actId="478"/>
          <ac:grpSpMkLst>
            <pc:docMk/>
            <pc:sldMk cId="0" sldId="256"/>
            <ac:grpSpMk id="59" creationId="{A9F7654D-4892-3292-06A0-0F00CEE14208}"/>
          </ac:grpSpMkLst>
        </pc:grpChg>
        <pc:grpChg chg="del">
          <ac:chgData name="Divin Mathem's" userId="9da0f2a21a54eae4" providerId="LiveId" clId="{C21F7293-61BB-48DC-AE0B-8F9F307214DA}" dt="2026-03-30T12:14:22.075" v="3183" actId="478"/>
          <ac:grpSpMkLst>
            <pc:docMk/>
            <pc:sldMk cId="0" sldId="256"/>
            <ac:grpSpMk id="65" creationId="{58C1A8DE-7AC1-0660-85A1-5EFC34B73947}"/>
          </ac:grpSpMkLst>
        </pc:grpChg>
      </pc:sldChg>
      <pc:sldChg chg="delSp mod delAnim">
        <pc:chgData name="Divin Mathem's" userId="9da0f2a21a54eae4" providerId="LiveId" clId="{C21F7293-61BB-48DC-AE0B-8F9F307214DA}" dt="2026-03-30T12:15:08.181" v="3188" actId="478"/>
        <pc:sldMkLst>
          <pc:docMk/>
          <pc:sldMk cId="2623411032" sldId="276"/>
        </pc:sldMkLst>
        <pc:picChg chg="del">
          <ac:chgData name="Divin Mathem's" userId="9da0f2a21a54eae4" providerId="LiveId" clId="{C21F7293-61BB-48DC-AE0B-8F9F307214DA}" dt="2026-03-30T12:15:08.181" v="3188" actId="478"/>
          <ac:picMkLst>
            <pc:docMk/>
            <pc:sldMk cId="2623411032" sldId="276"/>
            <ac:picMk id="57" creationId="{E3472216-94CE-36CC-738E-60A12C7721C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999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17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50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59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3929063" y="702313"/>
            <a:ext cx="5594747" cy="1689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9600" b="1" dirty="0" smtClean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Agri</a:t>
            </a:r>
            <a:r>
              <a:rPr lang="en-US" sz="9600" b="1" dirty="0" smtClean="0">
                <a:solidFill>
                  <a:srgbClr val="00B050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Sphere</a:t>
            </a:r>
            <a:endParaRPr lang="en-US" sz="96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1795463" y="1705133"/>
            <a:ext cx="11107737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60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Smart farming guidance in every farmer's pocket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5894A628-A4BC-7DB7-EDAB-93C39564CA26}"/>
              </a:ext>
            </a:extLst>
          </p:cNvPr>
          <p:cNvSpPr/>
          <p:nvPr/>
        </p:nvSpPr>
        <p:spPr>
          <a:xfrm>
            <a:off x="9757407" y="7318838"/>
            <a:ext cx="4697098" cy="104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ts val="3150"/>
              </a:lnSpc>
              <a:buNone/>
            </a:pPr>
            <a:r>
              <a:rPr lang="en-US" sz="5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</a:t>
            </a:r>
            <a:r>
              <a:rPr lang="en-US" sz="5400" b="1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5400" b="1" dirty="0" smtClean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FusionX</a:t>
            </a:r>
            <a:endParaRPr lang="en-US" sz="4000" dirty="0">
              <a:solidFill>
                <a:srgbClr val="FFC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Text 0"/>
          <p:cNvSpPr/>
          <p:nvPr/>
        </p:nvSpPr>
        <p:spPr>
          <a:xfrm>
            <a:off x="881063" y="2058829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endParaRPr lang="en-US" sz="4400" dirty="0"/>
          </a:p>
        </p:txBody>
      </p:sp>
      <p:sp>
        <p:nvSpPr>
          <p:cNvPr id="45" name="Shape 1"/>
          <p:cNvSpPr/>
          <p:nvPr/>
        </p:nvSpPr>
        <p:spPr>
          <a:xfrm>
            <a:off x="728660" y="2361648"/>
            <a:ext cx="4121587" cy="2223135"/>
          </a:xfrm>
          <a:prstGeom prst="roundRect">
            <a:avLst>
              <a:gd name="adj" fmla="val 16987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6" name="Shape 2"/>
          <p:cNvSpPr/>
          <p:nvPr/>
        </p:nvSpPr>
        <p:spPr>
          <a:xfrm>
            <a:off x="759140" y="2392128"/>
            <a:ext cx="4060627" cy="755213"/>
          </a:xfrm>
          <a:prstGeom prst="roundRect">
            <a:avLst>
              <a:gd name="adj" fmla="val 45162"/>
            </a:avLst>
          </a:prstGeom>
          <a:solidFill>
            <a:srgbClr val="0A081B"/>
          </a:solidFill>
          <a:ln/>
        </p:spPr>
      </p:sp>
      <p:sp>
        <p:nvSpPr>
          <p:cNvPr id="48" name="Text 3"/>
          <p:cNvSpPr/>
          <p:nvPr/>
        </p:nvSpPr>
        <p:spPr>
          <a:xfrm>
            <a:off x="1612403" y="4062242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Vumani</a:t>
            </a:r>
            <a:r>
              <a:rPr lang="en-US" sz="2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2200" b="1" dirty="0" err="1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Dlamini</a:t>
            </a:r>
            <a:endParaRPr lang="en-US" sz="2200" dirty="0"/>
          </a:p>
        </p:txBody>
      </p:sp>
      <p:sp>
        <p:nvSpPr>
          <p:cNvPr id="49" name="Text 4"/>
          <p:cNvSpPr/>
          <p:nvPr/>
        </p:nvSpPr>
        <p:spPr>
          <a:xfrm>
            <a:off x="1010838" y="3899698"/>
            <a:ext cx="3557230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50" name="Shape 5"/>
          <p:cNvSpPr/>
          <p:nvPr/>
        </p:nvSpPr>
        <p:spPr>
          <a:xfrm>
            <a:off x="5101944" y="2361648"/>
            <a:ext cx="4121587" cy="2223135"/>
          </a:xfrm>
          <a:prstGeom prst="roundRect">
            <a:avLst>
              <a:gd name="adj" fmla="val 16987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51" name="Shape 6"/>
          <p:cNvSpPr/>
          <p:nvPr/>
        </p:nvSpPr>
        <p:spPr>
          <a:xfrm>
            <a:off x="5132424" y="2392128"/>
            <a:ext cx="4060627" cy="755213"/>
          </a:xfrm>
          <a:prstGeom prst="roundRect">
            <a:avLst>
              <a:gd name="adj" fmla="val 45162"/>
            </a:avLst>
          </a:prstGeom>
          <a:solidFill>
            <a:srgbClr val="0A081B"/>
          </a:solidFill>
          <a:ln/>
        </p:spPr>
      </p:sp>
      <p:sp>
        <p:nvSpPr>
          <p:cNvPr id="53" name="Text 7"/>
          <p:cNvSpPr/>
          <p:nvPr/>
        </p:nvSpPr>
        <p:spPr>
          <a:xfrm>
            <a:off x="5737449" y="4062243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Tshegofatso Thapedi</a:t>
            </a:r>
            <a:endParaRPr lang="en-US" sz="2200" dirty="0"/>
          </a:p>
        </p:txBody>
      </p:sp>
      <p:sp>
        <p:nvSpPr>
          <p:cNvPr id="54" name="Text 8"/>
          <p:cNvSpPr/>
          <p:nvPr/>
        </p:nvSpPr>
        <p:spPr>
          <a:xfrm>
            <a:off x="5384122" y="3899698"/>
            <a:ext cx="3557230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55" name="Shape 9"/>
          <p:cNvSpPr/>
          <p:nvPr/>
        </p:nvSpPr>
        <p:spPr>
          <a:xfrm>
            <a:off x="9475229" y="2361648"/>
            <a:ext cx="4121706" cy="2223135"/>
          </a:xfrm>
          <a:prstGeom prst="roundRect">
            <a:avLst>
              <a:gd name="adj" fmla="val 16987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56" name="Shape 10"/>
          <p:cNvSpPr/>
          <p:nvPr/>
        </p:nvSpPr>
        <p:spPr>
          <a:xfrm>
            <a:off x="9505709" y="2392128"/>
            <a:ext cx="4060746" cy="755213"/>
          </a:xfrm>
          <a:prstGeom prst="roundRect">
            <a:avLst>
              <a:gd name="adj" fmla="val 45162"/>
            </a:avLst>
          </a:prstGeom>
          <a:solidFill>
            <a:srgbClr val="0A081B"/>
          </a:solidFill>
          <a:ln/>
        </p:spPr>
      </p:sp>
      <p:sp>
        <p:nvSpPr>
          <p:cNvPr id="58" name="Text 11"/>
          <p:cNvSpPr/>
          <p:nvPr/>
        </p:nvSpPr>
        <p:spPr>
          <a:xfrm>
            <a:off x="10301418" y="4062243"/>
            <a:ext cx="2802731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Mahlatse</a:t>
            </a:r>
            <a:r>
              <a:rPr lang="en-US" sz="220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2200" b="1" dirty="0" err="1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</a:t>
            </a:r>
            <a:r>
              <a:rPr lang="en-US" sz="2200" b="1" dirty="0" err="1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hatlane</a:t>
            </a:r>
            <a:endParaRPr lang="en-US" sz="2200" dirty="0"/>
          </a:p>
        </p:txBody>
      </p:sp>
      <p:sp>
        <p:nvSpPr>
          <p:cNvPr id="60" name="Shape 1"/>
          <p:cNvSpPr/>
          <p:nvPr/>
        </p:nvSpPr>
        <p:spPr>
          <a:xfrm>
            <a:off x="787597" y="4784120"/>
            <a:ext cx="4121587" cy="2223135"/>
          </a:xfrm>
          <a:prstGeom prst="roundRect">
            <a:avLst>
              <a:gd name="adj" fmla="val 16987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61" name="Shape 2"/>
          <p:cNvSpPr/>
          <p:nvPr/>
        </p:nvSpPr>
        <p:spPr>
          <a:xfrm>
            <a:off x="818077" y="4814600"/>
            <a:ext cx="4060627" cy="755213"/>
          </a:xfrm>
          <a:prstGeom prst="roundRect">
            <a:avLst>
              <a:gd name="adj" fmla="val 45162"/>
            </a:avLst>
          </a:prstGeom>
          <a:solidFill>
            <a:srgbClr val="0A081B"/>
          </a:solidFill>
          <a:ln/>
        </p:spPr>
      </p:sp>
      <p:sp>
        <p:nvSpPr>
          <p:cNvPr id="63" name="Text 3"/>
          <p:cNvSpPr/>
          <p:nvPr/>
        </p:nvSpPr>
        <p:spPr>
          <a:xfrm>
            <a:off x="1882849" y="6377283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Daniel </a:t>
            </a:r>
            <a:r>
              <a:rPr lang="en-US" sz="2200" b="1" dirty="0" err="1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Balepe</a:t>
            </a:r>
            <a:endParaRPr lang="en-US" sz="2200" dirty="0"/>
          </a:p>
        </p:txBody>
      </p:sp>
      <p:sp>
        <p:nvSpPr>
          <p:cNvPr id="64" name="Text 4"/>
          <p:cNvSpPr/>
          <p:nvPr/>
        </p:nvSpPr>
        <p:spPr>
          <a:xfrm>
            <a:off x="1069775" y="6322170"/>
            <a:ext cx="3557230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65" name="Shape 5"/>
          <p:cNvSpPr/>
          <p:nvPr/>
        </p:nvSpPr>
        <p:spPr>
          <a:xfrm>
            <a:off x="5160881" y="4784120"/>
            <a:ext cx="4121587" cy="2223135"/>
          </a:xfrm>
          <a:prstGeom prst="roundRect">
            <a:avLst>
              <a:gd name="adj" fmla="val 16987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66" name="Shape 6"/>
          <p:cNvSpPr/>
          <p:nvPr/>
        </p:nvSpPr>
        <p:spPr>
          <a:xfrm>
            <a:off x="5191361" y="4814600"/>
            <a:ext cx="4060627" cy="755213"/>
          </a:xfrm>
          <a:prstGeom prst="roundRect">
            <a:avLst>
              <a:gd name="adj" fmla="val 45162"/>
            </a:avLst>
          </a:prstGeom>
          <a:solidFill>
            <a:srgbClr val="0A081B"/>
          </a:solidFill>
          <a:ln/>
        </p:spPr>
      </p:sp>
      <p:sp>
        <p:nvSpPr>
          <p:cNvPr id="68" name="Text 7"/>
          <p:cNvSpPr/>
          <p:nvPr/>
        </p:nvSpPr>
        <p:spPr>
          <a:xfrm>
            <a:off x="5865905" y="6335637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Divin</a:t>
            </a:r>
            <a:r>
              <a:rPr lang="en-US" sz="220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  <a:r>
              <a:rPr lang="en-US" sz="2200" b="1" dirty="0" err="1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Mathemwana</a:t>
            </a:r>
            <a:endParaRPr lang="en-US" sz="2200" dirty="0"/>
          </a:p>
        </p:txBody>
      </p:sp>
      <p:sp>
        <p:nvSpPr>
          <p:cNvPr id="69" name="Text 8"/>
          <p:cNvSpPr/>
          <p:nvPr/>
        </p:nvSpPr>
        <p:spPr>
          <a:xfrm>
            <a:off x="5443059" y="6322170"/>
            <a:ext cx="3557230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70" name="Shape 9"/>
          <p:cNvSpPr/>
          <p:nvPr/>
        </p:nvSpPr>
        <p:spPr>
          <a:xfrm>
            <a:off x="9534166" y="4784120"/>
            <a:ext cx="4121706" cy="2223135"/>
          </a:xfrm>
          <a:prstGeom prst="roundRect">
            <a:avLst>
              <a:gd name="adj" fmla="val 16987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71" name="Shape 10"/>
          <p:cNvSpPr/>
          <p:nvPr/>
        </p:nvSpPr>
        <p:spPr>
          <a:xfrm>
            <a:off x="9564646" y="4814600"/>
            <a:ext cx="4060746" cy="755213"/>
          </a:xfrm>
          <a:prstGeom prst="roundRect">
            <a:avLst>
              <a:gd name="adj" fmla="val 45162"/>
            </a:avLst>
          </a:prstGeom>
          <a:solidFill>
            <a:srgbClr val="0A081B"/>
          </a:solidFill>
          <a:ln/>
        </p:spPr>
      </p:sp>
      <p:sp>
        <p:nvSpPr>
          <p:cNvPr id="73" name="Text 11"/>
          <p:cNvSpPr/>
          <p:nvPr/>
        </p:nvSpPr>
        <p:spPr>
          <a:xfrm>
            <a:off x="10464527" y="6388491"/>
            <a:ext cx="2802731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Gift </a:t>
            </a:r>
            <a:r>
              <a:rPr lang="en-US" sz="2200" b="1" dirty="0" err="1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Lekgothoane</a:t>
            </a:r>
            <a:endParaRPr lang="en-US" sz="2200" dirty="0"/>
          </a:p>
        </p:txBody>
      </p:sp>
      <p:sp>
        <p:nvSpPr>
          <p:cNvPr id="74" name="Text 12"/>
          <p:cNvSpPr/>
          <p:nvPr/>
        </p:nvSpPr>
        <p:spPr>
          <a:xfrm>
            <a:off x="9816344" y="6322170"/>
            <a:ext cx="3557349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812" y="2576146"/>
            <a:ext cx="1316502" cy="13165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283" y="2512601"/>
            <a:ext cx="1494529" cy="1494529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849" y="4902655"/>
            <a:ext cx="1494529" cy="1494529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8817" y="2537234"/>
            <a:ext cx="1494529" cy="1494529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72" y="4853028"/>
            <a:ext cx="1494529" cy="1494529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36" y="4909150"/>
            <a:ext cx="1494529" cy="14945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1"/>
          <p:cNvSpPr/>
          <p:nvPr/>
        </p:nvSpPr>
        <p:spPr>
          <a:xfrm>
            <a:off x="11419290" y="3380573"/>
            <a:ext cx="13243254" cy="152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846722" y="1567699"/>
            <a:ext cx="5142550" cy="1659669"/>
            <a:chOff x="831770" y="2220636"/>
            <a:chExt cx="5214970" cy="1645443"/>
          </a:xfrm>
        </p:grpSpPr>
        <p:sp>
          <p:nvSpPr>
            <p:cNvPr id="54" name="Shape 2"/>
            <p:cNvSpPr/>
            <p:nvPr/>
          </p:nvSpPr>
          <p:spPr>
            <a:xfrm>
              <a:off x="831770" y="2220636"/>
              <a:ext cx="5214970" cy="1645443"/>
            </a:xfrm>
            <a:prstGeom prst="roundRect">
              <a:avLst>
                <a:gd name="adj" fmla="val 16937"/>
              </a:avLst>
            </a:prstGeom>
            <a:solidFill>
              <a:srgbClr val="0A081B"/>
            </a:solidFill>
            <a:ln w="28575">
              <a:solidFill>
                <a:srgbClr val="16FFBB"/>
              </a:solidFill>
              <a:prstDash val="solid"/>
            </a:ln>
          </p:spPr>
        </p:sp>
        <p:sp>
          <p:nvSpPr>
            <p:cNvPr id="55" name="Shape 3"/>
            <p:cNvSpPr/>
            <p:nvPr/>
          </p:nvSpPr>
          <p:spPr>
            <a:xfrm>
              <a:off x="1265577" y="2502064"/>
              <a:ext cx="943112" cy="920373"/>
            </a:xfrm>
            <a:prstGeom prst="roundRect">
              <a:avLst>
                <a:gd name="adj" fmla="val 19730823"/>
              </a:avLst>
            </a:prstGeom>
            <a:solidFill>
              <a:srgbClr val="16FFBB"/>
            </a:solidFill>
            <a:ln/>
          </p:spPr>
        </p:sp>
        <p:sp>
          <p:nvSpPr>
            <p:cNvPr id="57" name="Text 4"/>
            <p:cNvSpPr/>
            <p:nvPr/>
          </p:nvSpPr>
          <p:spPr>
            <a:xfrm>
              <a:off x="2327182" y="2976508"/>
              <a:ext cx="1965793" cy="4697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2400" b="1" dirty="0" smtClean="0">
                  <a:solidFill>
                    <a:srgbClr val="E0E4E6"/>
                  </a:solidFill>
                  <a:latin typeface="Segoe UI" panose="020B0502040204020203" pitchFamily="34" charset="0"/>
                  <a:ea typeface="Spline Sans Bold" pitchFamily="34" charset="-122"/>
                  <a:cs typeface="Segoe UI" panose="020B0502040204020203" pitchFamily="34" charset="0"/>
                </a:rPr>
                <a:t>   Loss of Profit</a:t>
              </a:r>
              <a:endParaRPr lang="en-US" sz="2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8" name="Text 5"/>
            <p:cNvSpPr/>
            <p:nvPr/>
          </p:nvSpPr>
          <p:spPr>
            <a:xfrm>
              <a:off x="2208689" y="3289034"/>
              <a:ext cx="1888022" cy="2502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endParaRPr lang="en-US" sz="24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9" name="Shape 6"/>
          <p:cNvSpPr/>
          <p:nvPr/>
        </p:nvSpPr>
        <p:spPr>
          <a:xfrm>
            <a:off x="9054376" y="1571448"/>
            <a:ext cx="5142550" cy="1669159"/>
          </a:xfrm>
          <a:prstGeom prst="roundRect">
            <a:avLst>
              <a:gd name="adj" fmla="val 16937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60" name="Shape 7"/>
          <p:cNvSpPr/>
          <p:nvPr/>
        </p:nvSpPr>
        <p:spPr>
          <a:xfrm>
            <a:off x="9405945" y="1769778"/>
            <a:ext cx="1123076" cy="1115215"/>
          </a:xfrm>
          <a:prstGeom prst="roundRect">
            <a:avLst>
              <a:gd name="adj" fmla="val 19730823"/>
            </a:avLst>
          </a:prstGeom>
          <a:solidFill>
            <a:srgbClr val="29DDDA"/>
          </a:solidFill>
          <a:ln/>
        </p:spPr>
      </p:sp>
      <p:sp>
        <p:nvSpPr>
          <p:cNvPr id="63" name="Text 9"/>
          <p:cNvSpPr/>
          <p:nvPr/>
        </p:nvSpPr>
        <p:spPr>
          <a:xfrm>
            <a:off x="11114620" y="2578950"/>
            <a:ext cx="2092930" cy="491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3784484" y="3596221"/>
            <a:ext cx="5204788" cy="1756747"/>
          </a:xfrm>
          <a:prstGeom prst="roundRect">
            <a:avLst>
              <a:gd name="adj" fmla="val 16937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65" name="Shape 11"/>
          <p:cNvSpPr/>
          <p:nvPr/>
        </p:nvSpPr>
        <p:spPr>
          <a:xfrm>
            <a:off x="4114616" y="3978452"/>
            <a:ext cx="1077379" cy="1011524"/>
          </a:xfrm>
          <a:prstGeom prst="roundRect">
            <a:avLst>
              <a:gd name="adj" fmla="val 19730823"/>
            </a:avLst>
          </a:prstGeom>
          <a:solidFill>
            <a:srgbClr val="37A7E7"/>
          </a:solidFill>
          <a:ln/>
        </p:spPr>
      </p:sp>
      <p:sp>
        <p:nvSpPr>
          <p:cNvPr id="68" name="Text 13"/>
          <p:cNvSpPr/>
          <p:nvPr/>
        </p:nvSpPr>
        <p:spPr>
          <a:xfrm>
            <a:off x="5203376" y="4393429"/>
            <a:ext cx="2629282" cy="43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9054376" y="3605841"/>
            <a:ext cx="5142550" cy="1756747"/>
          </a:xfrm>
          <a:prstGeom prst="roundRect">
            <a:avLst>
              <a:gd name="adj" fmla="val 16937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sp>
      <p:sp>
        <p:nvSpPr>
          <p:cNvPr id="72" name="Text 16"/>
          <p:cNvSpPr/>
          <p:nvPr/>
        </p:nvSpPr>
        <p:spPr>
          <a:xfrm>
            <a:off x="10760704" y="4085222"/>
            <a:ext cx="1587942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 smtClean="0">
                <a:solidFill>
                  <a:srgbClr val="E0E4E6"/>
                </a:solidFill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Cost Barrier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11114619" y="4430803"/>
            <a:ext cx="2341316" cy="417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Text 0"/>
          <p:cNvSpPr/>
          <p:nvPr/>
        </p:nvSpPr>
        <p:spPr>
          <a:xfrm>
            <a:off x="7536469" y="231137"/>
            <a:ext cx="6885550" cy="699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400" b="1" dirty="0" smtClean="0">
                <a:solidFill>
                  <a:srgbClr val="FFC0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Problem</a:t>
            </a:r>
            <a:endParaRPr lang="en-US" sz="5400" b="1" dirty="0">
              <a:solidFill>
                <a:srgbClr val="FFC00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Segoe UI" panose="020B0502040204020203" pitchFamily="34" charset="0"/>
              <a:ea typeface="Spline Sans Bold" pitchFamily="34" charset="-122"/>
              <a:cs typeface="Segoe UI" panose="020B0502040204020203" pitchFamily="34" charset="0"/>
            </a:endParaRPr>
          </a:p>
        </p:txBody>
      </p:sp>
      <p:sp>
        <p:nvSpPr>
          <p:cNvPr id="83" name="Shape 7"/>
          <p:cNvSpPr/>
          <p:nvPr/>
        </p:nvSpPr>
        <p:spPr>
          <a:xfrm>
            <a:off x="9437634" y="3978452"/>
            <a:ext cx="1038948" cy="1115215"/>
          </a:xfrm>
          <a:prstGeom prst="roundRect">
            <a:avLst>
              <a:gd name="adj" fmla="val 19730823"/>
            </a:avLst>
          </a:prstGeom>
          <a:solidFill>
            <a:schemeClr val="accent2"/>
          </a:solidFill>
          <a:ln/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8177" cy="8229600"/>
          </a:xfrm>
          <a:prstGeom prst="rect">
            <a:avLst/>
          </a:prstGeom>
        </p:spPr>
      </p:pic>
      <p:sp>
        <p:nvSpPr>
          <p:cNvPr id="84" name="Shape 6"/>
          <p:cNvSpPr/>
          <p:nvPr/>
        </p:nvSpPr>
        <p:spPr>
          <a:xfrm>
            <a:off x="3846722" y="5670206"/>
            <a:ext cx="5142550" cy="1669159"/>
          </a:xfrm>
          <a:prstGeom prst="roundRect">
            <a:avLst>
              <a:gd name="adj" fmla="val 16937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85" name="Shape 7"/>
          <p:cNvSpPr/>
          <p:nvPr/>
        </p:nvSpPr>
        <p:spPr>
          <a:xfrm>
            <a:off x="4091767" y="5894555"/>
            <a:ext cx="1123076" cy="1115215"/>
          </a:xfrm>
          <a:prstGeom prst="roundRect">
            <a:avLst>
              <a:gd name="adj" fmla="val 19730823"/>
            </a:avLst>
          </a:prstGeom>
          <a:solidFill>
            <a:srgbClr val="29DDDA"/>
          </a:solidFill>
          <a:ln/>
        </p:spPr>
      </p:sp>
      <p:sp>
        <p:nvSpPr>
          <p:cNvPr id="86" name="Text 8"/>
          <p:cNvSpPr/>
          <p:nvPr/>
        </p:nvSpPr>
        <p:spPr>
          <a:xfrm>
            <a:off x="10760704" y="1837042"/>
            <a:ext cx="1716524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Late </a:t>
            </a:r>
            <a:r>
              <a:rPr lang="en-US" sz="2400" b="1" dirty="0" smtClean="0">
                <a:solidFill>
                  <a:srgbClr val="E0E4E6"/>
                </a:solidFill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Detection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2400" b="1" dirty="0">
              <a:solidFill>
                <a:srgbClr val="E0E4E6"/>
              </a:solidFill>
              <a:latin typeface="Segoe UI" panose="020B0502040204020203" pitchFamily="34" charset="0"/>
              <a:ea typeface="Spline Sans Bold" pitchFamily="34" charset="-122"/>
              <a:cs typeface="Segoe UI" panose="020B0502040204020203" pitchFamily="34" charset="0"/>
            </a:endParaRPr>
          </a:p>
          <a:p>
            <a:r>
              <a:rPr lang="en-US" sz="2400" dirty="0">
                <a:solidFill>
                  <a:srgbClr val="E0E4E6"/>
                </a:solidFill>
                <a:latin typeface="Segoe UI" panose="020B0502040204020203" pitchFamily="34" charset="0"/>
                <a:ea typeface="Barlow" pitchFamily="34" charset="-122"/>
                <a:cs typeface="Segoe UI" panose="020B0502040204020203" pitchFamily="34" charset="0"/>
              </a:rPr>
              <a:t>Diseases discovered too </a:t>
            </a:r>
            <a:endParaRPr lang="en-US" sz="2400" dirty="0" smtClean="0">
              <a:solidFill>
                <a:srgbClr val="E0E4E6"/>
              </a:solidFill>
              <a:latin typeface="Segoe UI" panose="020B0502040204020203" pitchFamily="34" charset="0"/>
              <a:ea typeface="Barlow" pitchFamily="34" charset="-122"/>
              <a:cs typeface="Segoe UI" panose="020B0502040204020203" pitchFamily="34" charset="0"/>
            </a:endParaRPr>
          </a:p>
          <a:p>
            <a:r>
              <a:rPr lang="en-US" sz="2400" dirty="0" smtClean="0">
                <a:solidFill>
                  <a:srgbClr val="E0E4E6"/>
                </a:solidFill>
                <a:latin typeface="Segoe UI" panose="020B0502040204020203" pitchFamily="34" charset="0"/>
                <a:ea typeface="Barlow" pitchFamily="34" charset="-122"/>
                <a:cs typeface="Segoe UI" panose="020B0502040204020203" pitchFamily="34" charset="0"/>
              </a:rPr>
              <a:t>Late.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ZA" sz="2400" dirty="0"/>
          </a:p>
          <a:p>
            <a:pPr marL="0" indent="0" algn="l">
              <a:lnSpc>
                <a:spcPts val="1650"/>
              </a:lnSpc>
              <a:buNone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 9"/>
          <p:cNvSpPr/>
          <p:nvPr/>
        </p:nvSpPr>
        <p:spPr>
          <a:xfrm>
            <a:off x="5906966" y="6677708"/>
            <a:ext cx="2092930" cy="491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9090857" y="5654955"/>
            <a:ext cx="5099584" cy="1756747"/>
          </a:xfrm>
          <a:prstGeom prst="roundRect">
            <a:avLst>
              <a:gd name="adj" fmla="val 16937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93" name="Shape 11"/>
          <p:cNvSpPr/>
          <p:nvPr/>
        </p:nvSpPr>
        <p:spPr>
          <a:xfrm>
            <a:off x="9458339" y="6111343"/>
            <a:ext cx="1077379" cy="1011524"/>
          </a:xfrm>
          <a:prstGeom prst="roundRect">
            <a:avLst>
              <a:gd name="adj" fmla="val 19730823"/>
            </a:avLst>
          </a:prstGeom>
          <a:solidFill>
            <a:srgbClr val="37A7E7"/>
          </a:solidFill>
          <a:ln/>
        </p:spPr>
      </p:sp>
      <p:sp>
        <p:nvSpPr>
          <p:cNvPr id="94" name="Text 12"/>
          <p:cNvSpPr/>
          <p:nvPr/>
        </p:nvSpPr>
        <p:spPr>
          <a:xfrm>
            <a:off x="10733233" y="6103835"/>
            <a:ext cx="3104087" cy="25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 smtClean="0">
                <a:solidFill>
                  <a:srgbClr val="E0E4E6"/>
                </a:solidFill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Environment</a:t>
            </a:r>
            <a:r>
              <a:rPr lang="en-US" sz="2400" b="1" dirty="0" smtClean="0">
                <a:solidFill>
                  <a:srgbClr val="E0E4E6"/>
                </a:solidFill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al Factors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10760704" y="6696414"/>
            <a:ext cx="3238908" cy="670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 smtClean="0">
                <a:solidFill>
                  <a:srgbClr val="E0E4E6"/>
                </a:solidFill>
                <a:latin typeface="Segoe UI" panose="020B0502040204020203" pitchFamily="34" charset="0"/>
                <a:ea typeface="Barlow" pitchFamily="34" charset="-122"/>
                <a:cs typeface="Segoe UI" panose="020B0502040204020203" pitchFamily="34" charset="0"/>
              </a:rPr>
              <a:t>Temperature, moisture,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sz="2400" dirty="0" smtClean="0">
                <a:solidFill>
                  <a:srgbClr val="E0E4E6"/>
                </a:solidFill>
                <a:latin typeface="Segoe UI" panose="020B0502040204020203" pitchFamily="34" charset="0"/>
                <a:ea typeface="Barlow" pitchFamily="34" charset="-122"/>
                <a:cs typeface="Segoe UI" panose="020B0502040204020203" pitchFamily="34" charset="0"/>
              </a:rPr>
              <a:t>humidity, and drought.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5603276" y="6360470"/>
            <a:ext cx="3104087" cy="25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Guesswork Watering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Text 8"/>
          <p:cNvSpPr/>
          <p:nvPr/>
        </p:nvSpPr>
        <p:spPr>
          <a:xfrm>
            <a:off x="5548147" y="4532229"/>
            <a:ext cx="1716524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 smtClean="0">
                <a:solidFill>
                  <a:srgbClr val="E0E4E6"/>
                </a:solidFill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Loss of Crops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96219" y="4415682"/>
            <a:ext cx="4160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chemeClr val="bg1"/>
                </a:solidFill>
              </a:rPr>
              <a:t>Professional advice too expensive.</a:t>
            </a:r>
            <a:endParaRPr lang="en-ZA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8567658" y="371052"/>
            <a:ext cx="2815425" cy="60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Solution</a:t>
            </a:r>
            <a:endParaRPr lang="en-US" sz="3700" dirty="0"/>
          </a:p>
        </p:txBody>
      </p:sp>
      <p:sp>
        <p:nvSpPr>
          <p:cNvPr id="35" name="Text 1"/>
          <p:cNvSpPr/>
          <p:nvPr/>
        </p:nvSpPr>
        <p:spPr>
          <a:xfrm>
            <a:off x="8627559" y="1052933"/>
            <a:ext cx="6912411" cy="973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400" dirty="0">
                <a:solidFill>
                  <a:schemeClr val="bg1"/>
                </a:solidFill>
              </a:rPr>
              <a:t>So the question is…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what if every farmer had access to a smart, </a:t>
            </a:r>
            <a:endParaRPr lang="en-US" sz="2400" dirty="0" smtClean="0">
              <a:solidFill>
                <a:schemeClr val="bg1"/>
              </a:solidFill>
            </a:endParaRPr>
          </a:p>
          <a:p>
            <a:pPr>
              <a:lnSpc>
                <a:spcPts val="2450"/>
              </a:lnSpc>
            </a:pPr>
            <a:r>
              <a:rPr lang="en-US" sz="2400" dirty="0" smtClean="0">
                <a:solidFill>
                  <a:schemeClr val="bg1"/>
                </a:solidFill>
              </a:rPr>
              <a:t>affordable agronomist </a:t>
            </a:r>
            <a:r>
              <a:rPr lang="en-US" sz="2400" dirty="0">
                <a:solidFill>
                  <a:schemeClr val="bg1"/>
                </a:solidFill>
              </a:rPr>
              <a:t>in their pocket</a:t>
            </a:r>
            <a:r>
              <a:rPr lang="en-US" sz="2400" dirty="0" smtClean="0">
                <a:solidFill>
                  <a:schemeClr val="bg1"/>
                </a:solidFill>
              </a:rPr>
              <a:t>?</a:t>
            </a:r>
          </a:p>
          <a:p>
            <a:pPr>
              <a:lnSpc>
                <a:spcPts val="2450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ts val="2450"/>
              </a:lnSpc>
            </a:pPr>
            <a:r>
              <a:rPr lang="en-US" sz="2400" dirty="0">
                <a:solidFill>
                  <a:schemeClr val="bg1"/>
                </a:solidFill>
              </a:rPr>
              <a:t>Our solution works in three powerful layers: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559" y="3033744"/>
            <a:ext cx="841836" cy="1316408"/>
          </a:xfrm>
          <a:prstGeom prst="rect">
            <a:avLst/>
          </a:prstGeom>
        </p:spPr>
      </p:pic>
      <p:sp>
        <p:nvSpPr>
          <p:cNvPr id="38" name="Text 2"/>
          <p:cNvSpPr/>
          <p:nvPr/>
        </p:nvSpPr>
        <p:spPr>
          <a:xfrm>
            <a:off x="9645672" y="3141782"/>
            <a:ext cx="1834679" cy="30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</a:t>
            </a:r>
            <a:r>
              <a:rPr lang="en-US" sz="240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Vision</a:t>
            </a:r>
            <a:endParaRPr lang="en-US" sz="2400" dirty="0"/>
          </a:p>
        </p:txBody>
      </p:sp>
      <p:sp>
        <p:nvSpPr>
          <p:cNvPr id="39" name="Text 3"/>
          <p:cNvSpPr/>
          <p:nvPr/>
        </p:nvSpPr>
        <p:spPr>
          <a:xfrm>
            <a:off x="9585771" y="3424405"/>
            <a:ext cx="5072073" cy="504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Detects crop diseases using smartphone 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20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camera.</a:t>
            </a:r>
            <a:endParaRPr lang="en-US" sz="20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559" y="4313081"/>
            <a:ext cx="841836" cy="1504397"/>
          </a:xfrm>
          <a:prstGeom prst="rect">
            <a:avLst/>
          </a:prstGeom>
        </p:spPr>
      </p:pic>
      <p:sp>
        <p:nvSpPr>
          <p:cNvPr id="41" name="Text 4"/>
          <p:cNvSpPr/>
          <p:nvPr/>
        </p:nvSpPr>
        <p:spPr>
          <a:xfrm>
            <a:off x="9645672" y="4456465"/>
            <a:ext cx="1834679" cy="30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</a:rPr>
              <a:t>Smart Sensors (IOT)</a:t>
            </a:r>
            <a:endParaRPr lang="en-US" sz="2400" dirty="0"/>
          </a:p>
        </p:txBody>
      </p:sp>
      <p:sp>
        <p:nvSpPr>
          <p:cNvPr id="42" name="Text 5"/>
          <p:cNvSpPr/>
          <p:nvPr/>
        </p:nvSpPr>
        <p:spPr>
          <a:xfrm>
            <a:off x="9650271" y="4732178"/>
            <a:ext cx="4056300" cy="64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000" dirty="0">
                <a:solidFill>
                  <a:schemeClr val="bg1"/>
                </a:solidFill>
              </a:rPr>
              <a:t>Monitors soil and environmental conditions in real time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559" y="5780408"/>
            <a:ext cx="841836" cy="1504397"/>
          </a:xfrm>
          <a:prstGeom prst="rect">
            <a:avLst/>
          </a:prstGeom>
        </p:spPr>
      </p:pic>
      <p:sp>
        <p:nvSpPr>
          <p:cNvPr id="48" name="Text 6"/>
          <p:cNvSpPr/>
          <p:nvPr/>
        </p:nvSpPr>
        <p:spPr>
          <a:xfrm>
            <a:off x="9645672" y="5822889"/>
            <a:ext cx="1834679" cy="30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ZA" sz="2400" b="1" dirty="0">
                <a:solidFill>
                  <a:schemeClr val="bg1"/>
                </a:solidFill>
              </a:rPr>
              <a:t>Predictive Intelligence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9" name="Text 7"/>
          <p:cNvSpPr/>
          <p:nvPr/>
        </p:nvSpPr>
        <p:spPr>
          <a:xfrm>
            <a:off x="9645673" y="6105091"/>
            <a:ext cx="4730198" cy="64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2000" dirty="0">
                <a:solidFill>
                  <a:schemeClr val="bg1"/>
                </a:solidFill>
              </a:rPr>
              <a:t>Uses AI to recommend actions and predict yields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80" y="17042"/>
            <a:ext cx="8212558" cy="82125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0423" y="7372402"/>
            <a:ext cx="6035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Together, this gives farmers real-time, data-driven decisions without needing expensive experts.</a:t>
            </a:r>
            <a:endParaRPr lang="en-Z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1"/>
          <p:cNvSpPr/>
          <p:nvPr/>
        </p:nvSpPr>
        <p:spPr>
          <a:xfrm>
            <a:off x="11450598" y="2154636"/>
            <a:ext cx="7556421" cy="110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endParaRPr lang="en-US" sz="6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2"/>
          <p:cNvSpPr/>
          <p:nvPr/>
        </p:nvSpPr>
        <p:spPr>
          <a:xfrm>
            <a:off x="702129" y="1329333"/>
            <a:ext cx="3715031" cy="1456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ZA" sz="4400" dirty="0" smtClean="0">
                <a:solidFill>
                  <a:schemeClr val="bg1"/>
                </a:solidFill>
              </a:rPr>
              <a:t>Farmers </a:t>
            </a:r>
            <a:r>
              <a:rPr lang="en-ZA" sz="4400" dirty="0" err="1" smtClean="0">
                <a:solidFill>
                  <a:schemeClr val="bg1"/>
                </a:solidFill>
              </a:rPr>
              <a:t>Agri</a:t>
            </a:r>
            <a:r>
              <a:rPr lang="en-ZA" sz="4400" dirty="0" smtClean="0">
                <a:solidFill>
                  <a:schemeClr val="bg1"/>
                </a:solidFill>
              </a:rPr>
              <a:t>-Care - 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6" name="Text 3"/>
          <p:cNvSpPr/>
          <p:nvPr/>
        </p:nvSpPr>
        <p:spPr>
          <a:xfrm>
            <a:off x="381000" y="1982781"/>
            <a:ext cx="11211030" cy="150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chemeClr val="bg1"/>
                </a:solidFill>
              </a:rPr>
              <a:t>They: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Work mainly with </a:t>
            </a:r>
            <a:r>
              <a:rPr lang="en-US" sz="2400" b="1" dirty="0">
                <a:solidFill>
                  <a:schemeClr val="bg1"/>
                </a:solidFill>
              </a:rPr>
              <a:t>commercial farmers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Provide </a:t>
            </a:r>
            <a:r>
              <a:rPr lang="en-US" sz="2400" b="1" dirty="0">
                <a:solidFill>
                  <a:schemeClr val="bg1"/>
                </a:solidFill>
              </a:rPr>
              <a:t>expert advice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 data + research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Help improve yields through </a:t>
            </a:r>
            <a:r>
              <a:rPr lang="en-US" sz="2400" b="1" dirty="0">
                <a:solidFill>
                  <a:schemeClr val="bg1"/>
                </a:solidFill>
              </a:rPr>
              <a:t>human expertise + tools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5B1821AB-7FE1-53CC-E20B-FD421FA2DA28}"/>
              </a:ext>
            </a:extLst>
          </p:cNvPr>
          <p:cNvSpPr/>
          <p:nvPr/>
        </p:nvSpPr>
        <p:spPr>
          <a:xfrm>
            <a:off x="245907" y="212271"/>
            <a:ext cx="9992976" cy="105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6000" b="1" dirty="0" smtClean="0">
                <a:solidFill>
                  <a:schemeClr val="bg1"/>
                </a:solidFill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Competitors</a:t>
            </a:r>
            <a:endParaRPr 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4129"/>
            <a:ext cx="7145821" cy="29848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43" y="5226551"/>
            <a:ext cx="4700424" cy="30030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764" y="5250762"/>
            <a:ext cx="4512779" cy="30030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53643" y="1038670"/>
            <a:ext cx="101073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A professional farming consulting company</a:t>
            </a:r>
            <a:endParaRPr lang="en-ZA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1"/>
          <p:cNvSpPr/>
          <p:nvPr/>
        </p:nvSpPr>
        <p:spPr>
          <a:xfrm>
            <a:off x="11450598" y="2154636"/>
            <a:ext cx="7556421" cy="110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endParaRPr lang="en-US" sz="6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5B1821AB-7FE1-53CC-E20B-FD421FA2DA28}"/>
              </a:ext>
            </a:extLst>
          </p:cNvPr>
          <p:cNvSpPr/>
          <p:nvPr/>
        </p:nvSpPr>
        <p:spPr>
          <a:xfrm>
            <a:off x="245907" y="212271"/>
            <a:ext cx="9992976" cy="105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6000" b="1" dirty="0" smtClean="0">
                <a:solidFill>
                  <a:schemeClr val="bg1"/>
                </a:solidFill>
                <a:latin typeface="Segoe UI" panose="020B0502040204020203" pitchFamily="34" charset="0"/>
                <a:ea typeface="Spline Sans Bold" pitchFamily="34" charset="-122"/>
                <a:cs typeface="Segoe UI" panose="020B0502040204020203" pitchFamily="34" charset="0"/>
              </a:rPr>
              <a:t>Competitors</a:t>
            </a:r>
            <a:endParaRPr 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4129"/>
            <a:ext cx="7145821" cy="29848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43" y="5226551"/>
            <a:ext cx="4700424" cy="30030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764" y="5250762"/>
            <a:ext cx="4512779" cy="300304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673897"/>
              </p:ext>
            </p:extLst>
          </p:nvPr>
        </p:nvGraphicFramePr>
        <p:xfrm>
          <a:off x="832757" y="863598"/>
          <a:ext cx="12866913" cy="43387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88971">
                  <a:extLst>
                    <a:ext uri="{9D8B030D-6E8A-4147-A177-3AD203B41FA5}">
                      <a16:colId xmlns:a16="http://schemas.microsoft.com/office/drawing/2014/main" val="1951634949"/>
                    </a:ext>
                  </a:extLst>
                </a:gridCol>
                <a:gridCol w="4288971">
                  <a:extLst>
                    <a:ext uri="{9D8B030D-6E8A-4147-A177-3AD203B41FA5}">
                      <a16:colId xmlns:a16="http://schemas.microsoft.com/office/drawing/2014/main" val="1030606620"/>
                    </a:ext>
                  </a:extLst>
                </a:gridCol>
                <a:gridCol w="4288971">
                  <a:extLst>
                    <a:ext uri="{9D8B030D-6E8A-4147-A177-3AD203B41FA5}">
                      <a16:colId xmlns:a16="http://schemas.microsoft.com/office/drawing/2014/main" val="3552235648"/>
                    </a:ext>
                  </a:extLst>
                </a:gridCol>
              </a:tblGrid>
              <a:tr h="542343">
                <a:tc>
                  <a:txBody>
                    <a:bodyPr/>
                    <a:lstStyle/>
                    <a:p>
                      <a:r>
                        <a:rPr lang="en-ZA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Farmers Agri-Care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 err="1" smtClean="0"/>
                        <a:t>AgriSphere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004362"/>
                  </a:ext>
                </a:extLst>
              </a:tr>
              <a:tr h="542343">
                <a:tc>
                  <a:txBody>
                    <a:bodyPr/>
                    <a:lstStyle/>
                    <a:p>
                      <a:r>
                        <a:rPr lang="en-ZA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Physical / consultants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Mobile app 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99339"/>
                  </a:ext>
                </a:extLst>
              </a:tr>
              <a:tr h="542343">
                <a:tc>
                  <a:txBody>
                    <a:bodyPr/>
                    <a:lstStyle/>
                    <a:p>
                      <a:r>
                        <a:rPr lang="en-ZA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Expensive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Affordable (R49)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678703"/>
                  </a:ext>
                </a:extLst>
              </a:tr>
              <a:tr h="542343">
                <a:tc>
                  <a:txBody>
                    <a:bodyPr/>
                    <a:lstStyle/>
                    <a:p>
                      <a:r>
                        <a:rPr lang="en-ZA"/>
                        <a:t>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Limited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24/7 AI 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536070"/>
                  </a:ext>
                </a:extLst>
              </a:tr>
              <a:tr h="542343">
                <a:tc>
                  <a:txBody>
                    <a:bodyPr/>
                    <a:lstStyle/>
                    <a:p>
                      <a:r>
                        <a:rPr lang="en-ZA" dirty="0" smtClean="0"/>
                        <a:t>Target Market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Commercial farmers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Smallholder farmers 👨🏾‍🌾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9431565"/>
                  </a:ext>
                </a:extLst>
              </a:tr>
              <a:tr h="542343">
                <a:tc>
                  <a:txBody>
                    <a:bodyPr/>
                    <a:lstStyle/>
                    <a:p>
                      <a:r>
                        <a:rPr lang="en-ZA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Mostly KZN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Rural + anywhere 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751943"/>
                  </a:ext>
                </a:extLst>
              </a:tr>
              <a:tr h="542343">
                <a:tc>
                  <a:txBody>
                    <a:bodyPr/>
                    <a:lstStyle/>
                    <a:p>
                      <a:r>
                        <a:rPr lang="en-ZA"/>
                        <a:t>Internet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Required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Works offline 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694773"/>
                  </a:ext>
                </a:extLst>
              </a:tr>
              <a:tr h="542343">
                <a:tc>
                  <a:txBody>
                    <a:bodyPr/>
                    <a:lstStyle/>
                    <a:p>
                      <a:r>
                        <a:rPr lang="en-ZA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/>
                        <a:t>Slow consultations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Instant responses 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44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331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467" y="692587"/>
            <a:ext cx="4724876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Model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340995" y="2444782"/>
            <a:ext cx="4780836" cy="970478"/>
          </a:xfrm>
          <a:prstGeom prst="roundRect">
            <a:avLst>
              <a:gd name="adj" fmla="val 21246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381" y="1715049"/>
            <a:ext cx="1778661" cy="190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Tiered Subscriptions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65648" y="2624772"/>
            <a:ext cx="4426395" cy="40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Starting at R49/month for premium AI features like deep disease analysis and yield prediction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339676" y="2507605"/>
            <a:ext cx="4780836" cy="970478"/>
          </a:xfrm>
          <a:prstGeom prst="roundRect">
            <a:avLst>
              <a:gd name="adj" fmla="val 21246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5796" y="1742476"/>
            <a:ext cx="1778661" cy="190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Agronomist Network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575063" y="2624772"/>
            <a:ext cx="4426395" cy="40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R99 one-time registration fee creates a verified expert network connecting farmers with professionals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83271" y="4682735"/>
            <a:ext cx="1968970" cy="34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15%</a:t>
            </a:r>
            <a:endParaRPr lang="en-US" sz="4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31" y="3954099"/>
            <a:ext cx="2401220" cy="24012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09834" y="6692348"/>
            <a:ext cx="1778661" cy="190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Yield Increase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-572674" y="7101779"/>
            <a:ext cx="4763894" cy="202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AI-driven precision agriculture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15188" y="4682735"/>
            <a:ext cx="1968970" cy="34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30%</a:t>
            </a:r>
            <a:endParaRPr lang="en-US" sz="4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249" y="3954099"/>
            <a:ext cx="2401220" cy="24012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41633" y="6692348"/>
            <a:ext cx="1778661" cy="190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Maximum Gain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4559124" y="7101779"/>
            <a:ext cx="4763984" cy="202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Research from East African farms</a:t>
            </a:r>
            <a:endParaRPr lang="en-US" sz="1650" dirty="0"/>
          </a:p>
        </p:txBody>
      </p:sp>
      <p:sp>
        <p:nvSpPr>
          <p:cNvPr id="17" name="Shape 4"/>
          <p:cNvSpPr/>
          <p:nvPr/>
        </p:nvSpPr>
        <p:spPr>
          <a:xfrm>
            <a:off x="10355898" y="2573430"/>
            <a:ext cx="4143469" cy="970478"/>
          </a:xfrm>
          <a:prstGeom prst="roundRect">
            <a:avLst>
              <a:gd name="adj" fmla="val 21246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18" name="Text 5"/>
          <p:cNvSpPr/>
          <p:nvPr/>
        </p:nvSpPr>
        <p:spPr>
          <a:xfrm>
            <a:off x="10538606" y="1742476"/>
            <a:ext cx="1778661" cy="190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000" b="1" dirty="0">
                <a:solidFill>
                  <a:schemeClr val="bg1"/>
                </a:solidFill>
              </a:rPr>
              <a:t>Future Revenue Streams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19" name="Text 6"/>
          <p:cNvSpPr/>
          <p:nvPr/>
        </p:nvSpPr>
        <p:spPr>
          <a:xfrm>
            <a:off x="10523784" y="2624772"/>
            <a:ext cx="4426395" cy="40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 err="1">
                <a:solidFill>
                  <a:schemeClr val="bg1"/>
                </a:solidFill>
              </a:rPr>
              <a:t>IoT</a:t>
            </a:r>
            <a:r>
              <a:rPr lang="en-US" sz="1600" dirty="0">
                <a:solidFill>
                  <a:schemeClr val="bg1"/>
                </a:solidFill>
              </a:rPr>
              <a:t> device sales </a:t>
            </a:r>
          </a:p>
          <a:p>
            <a:r>
              <a:rPr lang="en-US" sz="1600" dirty="0">
                <a:solidFill>
                  <a:schemeClr val="bg1"/>
                </a:solidFill>
              </a:rPr>
              <a:t>Data insights for agri-businesses </a:t>
            </a:r>
          </a:p>
          <a:p>
            <a:r>
              <a:rPr lang="en-US" sz="1600" dirty="0">
                <a:solidFill>
                  <a:schemeClr val="bg1"/>
                </a:solidFill>
              </a:rPr>
              <a:t>Government &amp; NGO partnerships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Text 10"/>
          <p:cNvSpPr/>
          <p:nvPr/>
        </p:nvSpPr>
        <p:spPr>
          <a:xfrm>
            <a:off x="11363909" y="4682735"/>
            <a:ext cx="1968970" cy="34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30%</a:t>
            </a:r>
            <a:endParaRPr lang="en-US" sz="41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970" y="3954099"/>
            <a:ext cx="2401220" cy="240122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1490354" y="6692348"/>
            <a:ext cx="1778661" cy="190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Maximum Gain</a:t>
            </a:r>
            <a:endParaRPr lang="en-US" sz="1850" dirty="0"/>
          </a:p>
        </p:txBody>
      </p:sp>
      <p:sp>
        <p:nvSpPr>
          <p:cNvPr id="23" name="Text 12"/>
          <p:cNvSpPr/>
          <p:nvPr/>
        </p:nvSpPr>
        <p:spPr>
          <a:xfrm>
            <a:off x="10421515" y="7067240"/>
            <a:ext cx="4763984" cy="202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Research from East African farms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25062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795576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</a:rPr>
              <a:t>Conclusion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881063" y="1499235"/>
            <a:ext cx="128682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5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Unlike </a:t>
            </a:r>
            <a:r>
              <a:rPr lang="en-US" sz="2000" dirty="0">
                <a:solidFill>
                  <a:schemeClr val="bg1"/>
                </a:solidFill>
              </a:rPr>
              <a:t>Farmers </a:t>
            </a:r>
            <a:r>
              <a:rPr lang="en-US" sz="2000" dirty="0" err="1">
                <a:solidFill>
                  <a:schemeClr val="bg1"/>
                </a:solidFill>
              </a:rPr>
              <a:t>Agri</a:t>
            </a:r>
            <a:r>
              <a:rPr lang="en-US" sz="2000" dirty="0">
                <a:solidFill>
                  <a:schemeClr val="bg1"/>
                </a:solidFill>
              </a:rPr>
              <a:t>-Care, which relies on physical agronomists and is primarily accessible to commercial farmers, </a:t>
            </a:r>
            <a:r>
              <a:rPr lang="en-US" sz="2000" dirty="0" smtClean="0">
                <a:solidFill>
                  <a:schemeClr val="bg1"/>
                </a:solidFill>
              </a:rPr>
              <a:t>AgriSphere is </a:t>
            </a:r>
            <a:r>
              <a:rPr lang="en-US" sz="2000" dirty="0">
                <a:solidFill>
                  <a:schemeClr val="bg1"/>
                </a:solidFill>
              </a:rPr>
              <a:t>designed for smallholder </a:t>
            </a:r>
            <a:r>
              <a:rPr lang="en-US" sz="2000" dirty="0" smtClean="0">
                <a:solidFill>
                  <a:schemeClr val="bg1"/>
                </a:solidFill>
              </a:rPr>
              <a:t>farmers, offering </a:t>
            </a:r>
            <a:r>
              <a:rPr lang="en-US" sz="2000" dirty="0">
                <a:solidFill>
                  <a:schemeClr val="bg1"/>
                </a:solidFill>
              </a:rPr>
              <a:t>instant, affordable, and AI-powered farming support directly from a mobile device, even in low-connectivity areas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pPr>
              <a:lnSpc>
                <a:spcPts val="315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>
              <a:lnSpc>
                <a:spcPts val="3150"/>
              </a:lnSpc>
            </a:pPr>
            <a:r>
              <a:rPr lang="en-US" sz="2000" b="1" dirty="0">
                <a:solidFill>
                  <a:schemeClr val="bg1"/>
                </a:solidFill>
              </a:rPr>
              <a:t>We are not competing with </a:t>
            </a:r>
            <a:r>
              <a:rPr lang="en-US" sz="2000" b="1" dirty="0" smtClean="0">
                <a:solidFill>
                  <a:schemeClr val="bg1"/>
                </a:solidFill>
              </a:rPr>
              <a:t>agronomists, we </a:t>
            </a:r>
            <a:r>
              <a:rPr lang="en-US" sz="2000" b="1" dirty="0">
                <a:solidFill>
                  <a:schemeClr val="bg1"/>
                </a:solidFill>
              </a:rPr>
              <a:t>are scaling them.</a:t>
            </a:r>
            <a:endParaRPr lang="en-US" sz="19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84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5203</TotalTime>
  <Words>329</Words>
  <Application>Microsoft Office PowerPoint</Application>
  <PresentationFormat>Custom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Spline Sans Bold</vt:lpstr>
      <vt:lpstr>Arial</vt:lpstr>
      <vt:lpstr>Barlow</vt:lpstr>
      <vt:lpstr>Segoe UI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Divin Mathem's</dc:creator>
  <cp:lastModifiedBy>Tshegofatso</cp:lastModifiedBy>
  <cp:revision>37</cp:revision>
  <dcterms:created xsi:type="dcterms:W3CDTF">2025-10-03T21:46:46Z</dcterms:created>
  <dcterms:modified xsi:type="dcterms:W3CDTF">2026-03-30T20:20:03Z</dcterms:modified>
</cp:coreProperties>
</file>